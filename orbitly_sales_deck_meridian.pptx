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Review time per rep (min)</c:v>
                </c:pt>
                <c:pt idx="1">
                  <c:v>Ramp to quota (months)</c:v>
                </c:pt>
                <c:pt idx="2">
                  <c:v>CRM updates (hrs/wk)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Orbitly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Review time per rep (min)</c:v>
                </c:pt>
                <c:pt idx="1">
                  <c:v>Ramp to quota (months)</c:v>
                </c:pt>
                <c:pt idx="2">
                  <c:v>CRM updates (hrs/wk)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0.5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Weekly active reps (%)</c:v>
                </c:pt>
              </c:strCache>
            </c:strRef>
          </c:tx>
          <c:spPr>
            <a:solidFill>
              <a:srgbClr val="0D9488"/>
            </a:solidFill>
          </c:spPr>
          <c:cat>
            <c:strRef>
              <c:f>Sheet1!$A$2:$A$6</c:f>
              <c:strCache>
                <c:ptCount val="5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  <c:pt idx="4">
                  <c:v>Month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62</c:v>
                </c:pt>
                <c:pt idx="1">
                  <c:v>74</c:v>
                </c:pt>
                <c:pt idx="2">
                  <c:v>81</c:v>
                </c:pt>
                <c:pt idx="3">
                  <c:v>84</c:v>
                </c:pt>
                <c:pt idx="4">
                  <c:v>86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Segoe UI"/>
              </a:rPr>
              <a:t>Orbitly SalesOS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94A3B8"/>
                </a:solidFill>
                <a:latin typeface="Segoe UI"/>
              </a:rPr>
              <a:t>Revenue intelligence for freight &amp; logistics sales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Prepared for Meridian Freight Systems  ·  Sahla Thasnim, VP Sales Operations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94A3B8"/>
                </a:solidFill>
                <a:latin typeface="Segoe UI"/>
              </a:rPr>
              <a:t>August 2026  · 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91640"/>
            <a:ext cx="1005840" cy="109728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Segoe UI"/>
              </a:rPr>
              <a:t>Monday forecast day is broken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4748B"/>
                </a:solidFill>
                <a:latin typeface="Segoe UI"/>
              </a:rPr>
              <a:t>Meridian runs 340 reps across India and the EU on a spreadsheet rollup.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14600"/>
            <a:ext cx="374903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600" b="1">
                <a:solidFill>
                  <a:srgbClr val="0D9488"/>
                </a:solidFill>
                <a:latin typeface="Segoe UI"/>
              </a:rPr>
              <a:t>6%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11480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Segoe UI"/>
              </a:rPr>
              <a:t>missed last quarter's number —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Segoe UI"/>
              </a:rPr>
              <a:t>the slippage was visible two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Segoe UI"/>
              </a:rPr>
              <a:t>weeks before it was acted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103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Segoe U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1762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forecast accuracy today —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every deal scored by gut feel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246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Segoe UI"/>
              </a:rPr>
              <a:t>9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3192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per rep per week lost to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manual CRM data entry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38912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B2A4A"/>
                </a:solidFill>
                <a:latin typeface="Segoe UI"/>
              </a:rPr>
              <a:t>6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462272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for a new AE to reach</a:t>
            </a: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full quota productivity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Source: Meridian discovery call, Aug 2026 (MER-ORBT-DISC-0042)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Segoe UI"/>
              </a:rPr>
              <a:t>One platform, three 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4748B"/>
                </a:solidFill>
                <a:latin typeface="Segoe UI"/>
              </a:rPr>
              <a:t>Every engine feeds the same deal graph — calls, email, and CRM stages.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Conversation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Every call transcribed and scored against your playbook. Objections,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competitors, and next steps extracted automatically — zero rep data entry.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95728"/>
            <a:ext cx="502920" cy="82296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4840" y="21488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Forecast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36576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Every open deal scored weekly with a confidence number and reasons.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Customers move from ~60% forecast accuracy to 85%+.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395728"/>
            <a:ext cx="502920" cy="82296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2148840"/>
            <a:ext cx="3520440" cy="3200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46888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Coaching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&amp; Ramp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6576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Managers review 2 minutes of highlights instead of 40 minutes of audio.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New AEs reach full quota in 3 months instead of 6.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2395728"/>
            <a:ext cx="502920" cy="82296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Segoe UI"/>
              </a:rPr>
              <a:t>Conversation Intelligence: manager time collapses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Call scoring against your playbook replaces full-call listening. Win rate lifts +12% after two quarters.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057400"/>
          <a:ext cx="69494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2057400"/>
            <a:ext cx="3657600" cy="3840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3774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0D9488"/>
                </a:solidFill>
                <a:latin typeface="Segoe UI"/>
              </a:rPr>
              <a:t>+12%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329184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win rate after two quarters,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across the customer base.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Objection and competitor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detection runs on every call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Source: Orbitly customer base aggregate, FY2026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Segoe UI"/>
              </a:rPr>
              <a:t>Forecast accuracy: 60% to 87% in two quarters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Weekly deal scoring with per-deal confidence and reasons — not a gut rollup. Typical customer trajectory below.</a:t>
            </a:r>
          </a:p>
        </p:txBody>
      </p:sp>
      <p:pic>
        <p:nvPicPr>
          <p:cNvPr id="4" name="Picture 3" descr="img_forecas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7223760" cy="3611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0" y="210312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242316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What drives the lift:</a:t>
            </a:r>
          </a:p>
          <a:p>
            <a:pPr algn="l">
              <a:lnSpc>
                <a:spcPct val="112000"/>
              </a:lnSpc>
            </a:pP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– Every deal scored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   weekly, not monthly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– Slippage flagged in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   week 8, not week 11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– Reasons attached to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   every confidence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1E293B"/>
                </a:solidFill>
                <a:latin typeface="Segoe UI"/>
              </a:rPr>
              <a:t>   number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Source: Orbitly Forecast Intelligence cohort, customers onboarded H1-FY2026 (illustrative)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Segoe UI"/>
              </a:rPr>
              <a:t>Pricing for Meridian — 340 seats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554480"/>
          <a:ext cx="1086307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523744"/>
                <a:gridCol w="2523744"/>
                <a:gridCol w="2523744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</a:p>
                  </a:txBody>
                  <a:tcPr marT="76200" marB="762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Team</a:t>
                      </a:r>
                    </a:p>
                  </a:txBody>
                  <a:tcPr marT="76200" marB="762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Growth  (recommended)</a:t>
                      </a:r>
                    </a:p>
                  </a:txBody>
                  <a:tcPr marT="76200" marB="762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Enterprise</a:t>
                      </a:r>
                    </a:p>
                  </a:txBody>
                  <a:tcPr marT="76200" marB="76200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Price / seat / year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$480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$600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Custom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Conversation Intelligence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Forecast Intelligence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Adoption guarantee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 residency (India / EU)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In-region add-on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76200" marB="762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340-seat annual list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$163,200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$204,000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Custom</a:t>
                      </a:r>
                    </a:p>
                  </a:txBody>
                  <a:tcPr marT="76200" marB="7620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66928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Segoe UI"/>
              </a:rPr>
              <a:t>Three-year commit unlocks a 15% ceiling → $173,400/year at 340 seats. Team tier excludes Forecast Intelligence —</a:t>
            </a:r>
          </a:p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Segoe UI"/>
              </a:rPr>
              <a:t>Meridian's headline pain — so Growth is the right 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Segoe UI"/>
              </a:rPr>
              <a:t>340 reps live in under two months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4748B"/>
                </a:solidFill>
                <a:latin typeface="Segoe UI"/>
              </a:rPr>
              <a:t>Everything lives inside Salesforce — no separate rep login, no six-month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00200" y="2286000"/>
            <a:ext cx="77724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Salesforce connected,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bi-directional sync 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7992" y="2286000"/>
            <a:ext cx="77724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7872" y="3291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379476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SAP billing connector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ingests back-office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15784" y="2286000"/>
            <a:ext cx="77724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291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Weeks 2–11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379476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40-rep pilot, 60 days —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gates signed into the 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23576" y="2286000"/>
            <a:ext cx="77724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6" y="32918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B2A4A"/>
                </a:solidFill>
                <a:latin typeface="Segoe UI"/>
              </a:rPr>
              <a:t>Weeks 12–16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6" y="379476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Full 340-rep rollout,</a:t>
            </a:r>
          </a:p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1E293B"/>
                </a:solidFill>
                <a:latin typeface="Segoe UI"/>
              </a:rPr>
              <a:t>rep-led kickoff webinar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B2A4A"/>
                </a:solidFill>
                <a:latin typeface="Segoe UI"/>
              </a:rPr>
              <a:t>Pilot gates: 80% weekly-active reps by week 4  ·  80% forecast accuracy on pilot deals  ·  &lt;15 min manager review per rep per week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Segoe UI"/>
              </a:rPr>
              <a:t>TransCarry: same industry, similar seat count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1,100-rep logistics operator, onboarded Q4-FY2025. Monthly active rep adoption after kickoff: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2011680"/>
          <a:ext cx="694944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2011680"/>
            <a:ext cx="3657600" cy="374903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0" y="22860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Segoe UI"/>
              </a:rPr>
              <a:t>$4.2M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889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pipeline pulled forward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in two quarters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4747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Segoe UI"/>
              </a:rPr>
              <a:t>3 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9776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ramp to quota, down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from six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66344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B2A4A"/>
                </a:solidFill>
                <a:latin typeface="Segoe UI"/>
              </a:rPr>
              <a:t>7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16636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ROI payback at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E293B"/>
                </a:solidFill>
                <a:latin typeface="Segoe UI"/>
              </a:rPr>
              <a:t>Meridian's headcount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Segoe UI"/>
              </a:rPr>
              <a:t>Source: TransCarry account review, Q2-FY2026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B2A4A"/>
                </a:solidFill>
                <a:latin typeface="Segoe UI"/>
              </a:rP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Segoe UI"/>
              </a:rPr>
              <a:t>Everything below ships in the security pack — SOC 2 report, ISO certificate, DPA, residency options.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05740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194560"/>
                <a:gridCol w="59436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Detail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SOC 2 Type II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Current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Annual audit; report in security pack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ISO 27001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Current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Certificate included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Data residency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India + EU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Enterprise tier included; Growth via in-region add-on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Model training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Never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No customer call data trains any model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DPA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Standard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EU SCCs where applicable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B2A4A"/>
                </a:solidFill>
                <a:latin typeface="Segoe UI"/>
              </a:rPr>
              <a:t>Orbitly vs Saleslane — compare on the pains you opened with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3200400"/>
                <a:gridCol w="3200400"/>
              </a:tblGrid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Capability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Orbitly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Saleslane</a:t>
                      </a:r>
                    </a:p>
                  </a:txBody>
                  <a:tcPr marT="88900" marB="88900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Conversation capture &amp; scoring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Forecast scoring vs SAP billing data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Adoption guarantee (contracted)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Included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India / EU data residency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Enterprise / add-on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EU only</a:t>
                      </a:r>
                    </a:p>
                  </a:txBody>
                  <a:tcPr marT="88900" marB="88900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Price (annual, per seat)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$600 (Growth)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$420</a:t>
                      </a:r>
                    </a:p>
                  </a:txBody>
                  <a:tcPr marT="88900" marB="889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4864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E293B"/>
                </a:solidFill>
                <a:latin typeface="Segoe UI"/>
              </a:rPr>
              <a:t>Saleslane is a fine conversation-capture tool. On forecast accuracy and ramp — the two pains Meridian</a:t>
            </a:r>
          </a:p>
          <a:p>
            <a:pPr algn="l">
              <a:lnSpc>
                <a:spcPct val="120000"/>
              </a:lnSpc>
            </a:pPr>
            <a:r>
              <a:rPr sz="1550" b="0">
                <a:solidFill>
                  <a:srgbClr val="1E293B"/>
                </a:solidFill>
                <a:latin typeface="Segoe UI"/>
              </a:rPr>
              <a:t>opened the call with — it doesn't play.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229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Agreed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Segoe UI"/>
              </a:rPr>
              <a:t>Friday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0" y="19202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Orbitly sends: security pack, pilot plan with 3 gates, TransCarry ROI model, draft intro email for Priya Nair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Segoe UI"/>
              </a:rPr>
              <a:t>Next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78892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Meridian: security review kickoff with Mrunal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Segoe UI"/>
              </a:rPr>
              <a:t>Week after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65760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15-minute intro: Sahla → Priya Nair (CFO)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79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Segoe UI"/>
              </a:rPr>
              <a:t>Aug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4526279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40-rep pilot kickoff — $0 cost, gates signed into the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D9488"/>
                </a:solidFill>
                <a:latin typeface="Segoe UI"/>
              </a:rPr>
              <a:t>End of 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53949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FFFFF"/>
                </a:solidFill>
                <a:latin typeface="Segoe UI"/>
              </a:rPr>
              <a:t>Target signature after the Q1 budget freeze lifts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Segoe UI"/>
              </a:rPr>
              <a:t>Orbitly  ·  revenue intelligence for logistics sales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